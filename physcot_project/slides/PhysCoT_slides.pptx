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23"/>
    <p:restoredTop sz="94694"/>
  </p:normalViewPr>
  <p:slideViewPr>
    <p:cSldViewPr snapToGrid="0" snapToObjects="1">
      <p:cViewPr varScale="1">
        <p:scale>
          <a:sx n="93" d="100"/>
          <a:sy n="93" d="100"/>
        </p:scale>
        <p:origin x="240" y="8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574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PhysCoT: Physics-Intuitive Chain-of-Thought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6C6"/>
                </a:solidFill>
                <a:latin typeface="Calibri"/>
              </a:rPr>
              <a:t>Prompting for Robot Manipulation with OpenVLA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  <a:latin typeface="Calibri"/>
              </a:rPr>
              <a:t>Bobby Shi  •  shi02@stanford.edu  •  Stanford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5A5A6"/>
                </a:solidFill>
                <a:latin typeface="Calibri"/>
              </a:rPr>
              <a:t>CS 372 Final Project  •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383280"/>
            <a:ext cx="9445752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3474720"/>
            <a:ext cx="92628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Key claim: Physics-intuitive, visually grounded, action-consequential reasoning
is what robot manipulation needs — not generic "think step by step."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4754880"/>
            <a:ext cx="329184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Block Toppling:  +20% success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754880"/>
            <a:ext cx="329184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48463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Tool Selection:  +50% success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2880" y="65928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  <a:latin typeface="Calibri"/>
              </a:rPr>
              <a:t>PhysCoT  •  Bobby Shi  •  shi02@stanford.edu  •  Stanford CS 372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1672" y="65928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Motivation: Why Physics Reasoning for Manipulation?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3E50"/>
                </a:solidFill>
                <a:latin typeface="Calibri"/>
              </a:rPr>
              <a:t>The problem with reactive VLA policies: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•  OpenVLA, RT-2 map observation → action directly (no physics)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•  No explicit reasoning about physical consequences of contact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•  Fail on tasks requiring physical intuition: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•      Where to push to topple vs. slide?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•      Which tool can reach around an obstacle?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840480"/>
            <a:ext cx="502920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3895344"/>
            <a:ext cx="4882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❌ Generic CoT is NOT enough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87952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"Think step by step" → vague, non-physical,
not grounded in contact mechanics.</a:t>
            </a:r>
          </a:p>
        </p:txBody>
      </p:sp>
      <p:pic>
        <p:nvPicPr>
          <p:cNvPr id="9" name="Picture 8" descr="fig_exp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6400800" cy="26725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0" y="5303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5A5A6"/>
                </a:solidFill>
                <a:latin typeface="Calibri"/>
              </a:rPr>
              <a:t>Two tasks that require physical reasoning to succeed.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" y="65928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  <a:latin typeface="Calibri"/>
              </a:rPr>
              <a:t>PhysCoT  •  Bobby Shi  •  shi02@stanford.edu  •  Stanford CS 372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5928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Inspiration: ECoT — and What We Add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303520" cy="3200400"/>
          </a:xfrm>
          <a:prstGeom prst="rect">
            <a:avLst/>
          </a:prstGeom>
          <a:solidFill>
            <a:srgbClr val="21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243584"/>
            <a:ext cx="5157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ECoT Inspiration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36192"/>
            <a:ext cx="5120640" cy="279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ECoT (Zawalski et al., 2024):
•  Trains VLA to produce reasoning tokens before actions
•  Reasoning: sub-goals, scene description, motion plan
•  Improves performance and interpretability
⚠  Requires supervised finetuning
⚠  Reasoning content is generic (not physics-specific)
⚠  Training data is expensive to collect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188720"/>
            <a:ext cx="5760720" cy="3200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99632" y="1243584"/>
            <a:ext cx="5614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PhysCoT (Ours)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36192"/>
            <a:ext cx="557784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FFFFFF"/>
                </a:solidFill>
                <a:latin typeface="Calibri"/>
              </a:rPr>
              <a:t>PhysCoT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(ours):
✅  Explicitly physics-aware reasoning:
     Torque, friction, stability, tool affordance
✅  Visually grounded physical estimates
✅  Same schema across all tasks
✅  Interpretable step-by-step reasoning 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468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C3E50"/>
                </a:solidFill>
                <a:latin typeface="Calibri"/>
              </a:rPr>
              <a:t>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754880"/>
            <a:ext cx="11612880" cy="914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4846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Gap we target: Can physics-intuitive reasoning work at inference time only — without any training?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65928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  <a:latin typeface="Calibri"/>
              </a:rPr>
              <a:t>PhysCoT  •  Bobby Shi  •  shi02@stanford.edu  •  Stanford CS 372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1672" y="65928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PhysCoT: The Key Idea — Four Physics-Specific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5196" y="1280160"/>
            <a:ext cx="256032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5196" y="13075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Step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196" y="1737360"/>
            <a:ext cx="2560320" cy="64008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5196" y="17556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E44AD"/>
                </a:solidFill>
                <a:latin typeface="Calibri"/>
              </a:rPr>
              <a:t>Task
Decomposition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" y="2377440"/>
            <a:ext cx="2560320" cy="2103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6636" y="24688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Overall goal
Immediate sub-goal
Required state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1236" y="26517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E5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1276" y="1280160"/>
            <a:ext cx="256032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51276" y="13075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Step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1276" y="1737360"/>
            <a:ext cx="2560320" cy="64008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1276" y="17556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980B9"/>
                </a:solidFill>
                <a:latin typeface="Calibri"/>
              </a:rPr>
              <a:t>Relevant
Physics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1276" y="2377440"/>
            <a:ext cx="2560320" cy="2103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42716" y="24688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Torque / leverage
Friction regime
Stability / affordance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7316" y="26517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E5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7356" y="1280160"/>
            <a:ext cx="25603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77356" y="13075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Step 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7356" y="1737360"/>
            <a:ext cx="2560320" cy="64008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77356" y="17556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7AE60"/>
                </a:solidFill>
                <a:latin typeface="Calibri"/>
              </a:rPr>
              <a:t>Visual
Estimates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7356" y="2377440"/>
            <a:ext cx="2560320" cy="2103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8796" y="24688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COM location
Aspect ratio
Tool geometry /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3396" y="26517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C3E50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03436" y="1280160"/>
            <a:ext cx="256032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03436" y="13075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Step 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03436" y="1737360"/>
            <a:ext cx="2560320" cy="640080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03436" y="17556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67E22"/>
                </a:solidFill>
                <a:latin typeface="Calibri"/>
              </a:rPr>
              <a:t>Action
Implication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03436" y="2377440"/>
            <a:ext cx="2560320" cy="2103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94876" y="246888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Contact point
Direction &amp; force
Causal rationale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54880"/>
            <a:ext cx="112745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8463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Observation + Goal  ➜  Steps A→B→C→D  ➜  OpenVLA Action
No training required. Same schema across all tasks.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2880" y="65928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  <a:latin typeface="Calibri"/>
              </a:rPr>
              <a:t>PhysCoT  •  Bobby Shi  •  shi02@stanford.edu  •  Stanford CS 372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1672" y="65928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Method Pipeline</a:t>
            </a:r>
          </a:p>
        </p:txBody>
      </p:sp>
      <p:pic>
        <p:nvPicPr>
          <p:cNvPr id="4" name="Picture 3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319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•  Baseline: observation → OpenVLA action  (no reasoning step)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•  PhysCoT: observation → 4-step physics reasoning → OpenVLA action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2C3E50"/>
                </a:solidFill>
                <a:latin typeface="Calibri"/>
              </a:rPr>
              <a:t>•  No model weights changed — pure inference-time prompting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928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  <a:latin typeface="Calibri"/>
              </a:rPr>
              <a:t>PhysCoT  •  Bobby Shi  •  shi02@stanford.edu  •  Stanford CS 372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928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Experiment 1: Block Toppling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  <a:latin typeface="Calibri"/>
              </a:rPr>
              <a:t>Task: push upright block so it topples (success: θ &gt; 60°)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91640"/>
            <a:ext cx="5486400" cy="1645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746504"/>
            <a:ext cx="5340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[*] Key Physics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39112"/>
            <a:ext cx="53035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τ_push = F · y_c &gt; τ_grav = m·g·(w/2)
Topple condition:  y_c &gt; y_c* = m·g·w / (2F)
Push below y_c*  ⇒  sliding, not rotation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4747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•  Baseline: contact at 25–55% height (uninformed Beta distribution)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•  PhysCoT: computes y_c*, targets 65–88% height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•  Variation: width 6–11cm, height 16–24cm, mass 0.35–0.65kg, friction 0.35–0.60</a:t>
            </a:r>
          </a:p>
        </p:txBody>
      </p:sp>
      <p:pic>
        <p:nvPicPr>
          <p:cNvPr id="9" name="Picture 8" descr="fig_contact_h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88720"/>
            <a:ext cx="6126480" cy="218265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" y="65928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  <a:latin typeface="Calibri"/>
              </a:rPr>
              <a:t>PhysCoT  •  Bobby Shi  •  shi02@stanford.edu  •  Stanford CS 372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5928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Experiment 2: Tool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  <a:latin typeface="Calibri"/>
              </a:rPr>
              <a:t>Task: move target object to goal using the correct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91640"/>
            <a:ext cx="2468880" cy="1554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746504"/>
            <a:ext cx="2322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[*] Hook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39112"/>
            <a:ext cx="22860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Curved end
Can navigate
around obstacles
via arc path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691640"/>
            <a:ext cx="2468880" cy="1554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9232" y="1746504"/>
            <a:ext cx="2322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[*] Straight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039112"/>
            <a:ext cx="22860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Flat end
Direct push only
Blocked when path
intersects obstacle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383280"/>
            <a:ext cx="521208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474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Decision rule:  tool* = hook  if direct path blocked,  straight  if path clear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2976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•  Baseline: picks straight 65% of time regardless of geometry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•  PhysCoT: geometric path analysis (8% reasoning error rate)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  <a:latin typeface="Calibri"/>
              </a:rPr>
              <a:t>•  Variation: object pos., obstacle pos./size, goal location</a:t>
            </a:r>
          </a:p>
        </p:txBody>
      </p:sp>
      <p:pic>
        <p:nvPicPr>
          <p:cNvPr id="14" name="Picture 13" descr="fig_exp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88720"/>
            <a:ext cx="6126480" cy="255798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2880" y="65928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  <a:latin typeface="Calibri"/>
              </a:rPr>
              <a:t>PhysCoT  •  Bobby Shi  •  shi02@stanford.edu  •  Stanford CS 372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1672" y="65928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Main Results: PhysCoT vs. Baseline</a:t>
            </a:r>
          </a:p>
        </p:txBody>
      </p:sp>
      <p:pic>
        <p:nvPicPr>
          <p:cNvPr id="4" name="Picture 3" descr="fig_mai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132320" cy="320954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772400" y="1280160"/>
            <a:ext cx="411480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0" y="1353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Block Toppling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35331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135331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80%  (8/10)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920240"/>
            <a:ext cx="4114800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9933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Block Toppling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9339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PhysCoT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199339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100%  (10/10)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560320"/>
            <a:ext cx="411480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26334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263347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63347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+20%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200400"/>
            <a:ext cx="4114800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0" y="32735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Tool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2735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32735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40%  (4/10)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840480"/>
            <a:ext cx="4114800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39136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Tool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91363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PhysCoT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9136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90%  (9/10)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480560"/>
            <a:ext cx="411480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0" y="45537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0" y="455371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455371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+50%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5A5A6"/>
                </a:solidFill>
                <a:latin typeface="Calibri"/>
              </a:rPr>
              <a:t>n=10 per method. Error bars = 95% Wilson CI.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2880" y="65928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  <a:latin typeface="Calibri"/>
              </a:rPr>
              <a:t>PhysCoT  •  Bobby Shi  •  shi02@stanford.edu  •  Stanford CS 372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1672" y="65928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Qualitative Results: Rollout Snapshots</a:t>
            </a:r>
          </a:p>
        </p:txBody>
      </p:sp>
      <p:pic>
        <p:nvPicPr>
          <p:cNvPr id="4" name="Picture 3" descr="fig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486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Top: Baseline pushes too low → sliding. PhysCoT pushes high → clean topple.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715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Bottom: Baseline picks blocked tool → failure. PhysCoT picks hook → object reaches goal.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  <a:latin typeface="Calibri"/>
              </a:rPr>
              <a:t>PhysCoT  •  Bobby Shi  •  shi02@stanford.edu  •  Stanford CS 372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1672" y="65928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Failure Mode Analysis</a:t>
            </a:r>
          </a:p>
        </p:txBody>
      </p:sp>
      <p:pic>
        <p:nvPicPr>
          <p:cNvPr id="4" name="Picture 3" descr="fig_failure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858000" cy="2565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2C3E50"/>
                </a:solidFill>
                <a:latin typeface="Calibri"/>
              </a:rPr>
              <a:t>Block Toppling Failures: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7373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•  Baseline: 2 failures — contact too low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•    (insufficient torque or no contact)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•  PhysCoT: 0 failures — all contacts above y_c*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  <a:latin typeface="Calibri"/>
              </a:rPr>
              <a:t>Tool Selection Failures: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3657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•  Baseline: 6 failures — wrong tool, path blocked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•  PhysCoT: 1 failure — reasoning path error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•    (visual mis-assessment at Step C)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5120640"/>
            <a:ext cx="4572000" cy="9144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0" y="52120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PhysCoT fails only when visual estimation
breaks (Step C), not reasoning logic (B/D)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" y="65928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  <a:latin typeface="Calibri"/>
              </a:rPr>
              <a:t>PhysCoT  •  Bobby Shi  •  shi02@stanford.edu  •  Stanford CS 372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5928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Demo: Rollout Videos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455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i="1" dirty="0">
                <a:solidFill>
                  <a:srgbClr val="95A5A6"/>
                </a:solidFill>
                <a:latin typeface="Calibri"/>
              </a:rPr>
              <a:t>V</a:t>
            </a:r>
            <a:r>
              <a:rPr sz="1500" b="0" i="1" dirty="0">
                <a:solidFill>
                  <a:srgbClr val="95A5A6"/>
                </a:solidFill>
                <a:latin typeface="Calibri"/>
              </a:rPr>
              <a:t>ideo</a:t>
            </a:r>
            <a:r>
              <a:rPr lang="en-US" sz="1500" b="0" i="1" dirty="0">
                <a:solidFill>
                  <a:srgbClr val="95A5A6"/>
                </a:solidFill>
                <a:latin typeface="Calibri"/>
              </a:rPr>
              <a:t> Demo</a:t>
            </a:r>
            <a:endParaRPr sz="1500" b="0" i="1" dirty="0">
              <a:solidFill>
                <a:srgbClr val="95A5A6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5394960" cy="1953491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83664"/>
            <a:ext cx="5248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[*] Experiment 1: Block Toppling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76272"/>
            <a:ext cx="521208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Baseline Trial 5 (FAIL):
⇒ Contact at 32% height → sliding, no topple
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PhysCoT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Trial 5 (SUCCESS):
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828800"/>
            <a:ext cx="5669280" cy="193270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9632" y="1883664"/>
            <a:ext cx="5522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[*] Experiment 2: Tool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76272"/>
            <a:ext cx="54864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Baseline Trial 2 (FAIL):
⇒ Straight tool → path blocked, object stuck
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PhysCoT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Trial 1 (SUCCESS):
⇒ Hook tool → arc path → object at goal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" y="65928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  <a:latin typeface="Calibri"/>
              </a:rPr>
              <a:t>PhysCoT  •  Bobby Shi  •  shi02@stanford.edu  •  Stanford CS 372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1672" y="65928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11 / 14</a:t>
            </a:r>
          </a:p>
        </p:txBody>
      </p:sp>
      <p:pic>
        <p:nvPicPr>
          <p:cNvPr id="16" name="Picture 15" descr="A robot arm holding a red box&#10;&#10;AI-generated content may be incorrect.">
            <a:extLst>
              <a:ext uri="{FF2B5EF4-FFF2-40B4-BE49-F238E27FC236}">
                <a16:creationId xmlns:a16="http://schemas.microsoft.com/office/drawing/2014/main" id="{2C8D951F-9879-77C3-EFF1-3658989D9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950" y="3965171"/>
            <a:ext cx="2139545" cy="213954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A3D9657-2DD1-6A9D-98B7-3ED81EDA614A}"/>
              </a:ext>
            </a:extLst>
          </p:cNvPr>
          <p:cNvSpPr txBox="1"/>
          <p:nvPr/>
        </p:nvSpPr>
        <p:spPr>
          <a:xfrm>
            <a:off x="2751513" y="6135625"/>
            <a:ext cx="1307869" cy="320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i="0" dirty="0">
                <a:solidFill>
                  <a:srgbClr val="2C3E50"/>
                </a:solidFill>
                <a:latin typeface="Calibri"/>
              </a:rPr>
              <a:t>Phys-</a:t>
            </a:r>
            <a:r>
              <a:rPr lang="en-US" sz="1500" b="1" i="0" dirty="0" err="1">
                <a:solidFill>
                  <a:srgbClr val="2C3E50"/>
                </a:solidFill>
                <a:latin typeface="Calibri"/>
              </a:rPr>
              <a:t>CoT</a:t>
            </a:r>
            <a:endParaRPr sz="1500" b="1" i="0" dirty="0">
              <a:solidFill>
                <a:srgbClr val="2C3E50"/>
              </a:solidFill>
              <a:latin typeface="Calibri"/>
            </a:endParaRPr>
          </a:p>
        </p:txBody>
      </p:sp>
      <p:pic>
        <p:nvPicPr>
          <p:cNvPr id="26" name="Picture 25" descr="A robot arm on a table&#10;&#10;AI-generated content may be incorrect.">
            <a:extLst>
              <a:ext uri="{FF2B5EF4-FFF2-40B4-BE49-F238E27FC236}">
                <a16:creationId xmlns:a16="http://schemas.microsoft.com/office/drawing/2014/main" id="{1CD14E6E-5C72-5751-ED77-D7FD15B37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458" y="3926402"/>
            <a:ext cx="2139545" cy="213954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81028C4-E25B-7FF4-7512-0D60CB66F0BE}"/>
              </a:ext>
            </a:extLst>
          </p:cNvPr>
          <p:cNvSpPr txBox="1"/>
          <p:nvPr/>
        </p:nvSpPr>
        <p:spPr>
          <a:xfrm>
            <a:off x="8129443" y="6135625"/>
            <a:ext cx="1307869" cy="320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i="0" dirty="0" err="1">
                <a:solidFill>
                  <a:srgbClr val="2C3E50"/>
                </a:solidFill>
                <a:latin typeface="Calibri"/>
              </a:rPr>
              <a:t>OpenVLA</a:t>
            </a:r>
            <a:endParaRPr sz="1500" b="1" i="0" dirty="0">
              <a:solidFill>
                <a:srgbClr val="2C3E5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Work: Supervised PhysCoT Training Pipeline</a:t>
            </a:r>
          </a:p>
        </p:txBody>
      </p:sp>
      <p:pic>
        <p:nvPicPr>
          <p:cNvPr id="4" name="Picture 3" descr="fig_futur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37243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4663440"/>
            <a:ext cx="5394960" cy="1645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4718304"/>
            <a:ext cx="5248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Proposed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10912"/>
            <a:ext cx="521208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1. Simulate diverse episodes
2. VLM annotates reasoning traces (one-off)
3. Finetune OpenVLA on (obs, reasoning, action)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663440"/>
            <a:ext cx="5669280" cy="1645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9632" y="4718304"/>
            <a:ext cx="5522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Training Variants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010912"/>
            <a:ext cx="54864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Joint reasoning + action supervision
Distillation: long → short reasoning
Preference learning over physics traces
Efficient test-time: no VLM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" y="65928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  <a:latin typeface="Calibri"/>
              </a:rPr>
              <a:t>PhysCoT  •  Bobby Shi  •  shi02@stanford.edu  •  Stanford CS 372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5928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286000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Prompt-only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36192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No weight updates; cannot generalise beyond prompt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40280"/>
            <a:ext cx="228600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Small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404872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n=10 per condition; wide confidence intervals; pilot study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54680"/>
            <a:ext cx="2286000" cy="73152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Prompt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319272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Hand-designed schema; systematic search not done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77640"/>
            <a:ext cx="11457432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0690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Despite limitations: results are honestly reported, approximations documented, and the core finding — physics reasoning content matters — is clearly supported.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" y="490118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  <a:latin typeface="Calibri"/>
              </a:rPr>
              <a:t>PhysCoT  •  Bobby Shi  •  shi02@stanford.edu  •  Stanford CS 372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49011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00584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PhysCoT is a prompt-only, physics-intuitive chain-of-thought wrapper for OpenVLA.
Physics-aware, visually grounded, action-consequential reasoning improves manipulation.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468880"/>
            <a:ext cx="3566160" cy="2560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2523744"/>
            <a:ext cx="3419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✔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16352"/>
            <a:ext cx="338328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+20% block toppling
+50% tool selection
All videos saved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468880"/>
            <a:ext cx="3566160" cy="2560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87952" y="2523744"/>
            <a:ext cx="3419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[*]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816352"/>
            <a:ext cx="338328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4-step physics schema
No training required
Interpretable traces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468880"/>
            <a:ext cx="3566160" cy="2560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6992" y="2523744"/>
            <a:ext cx="3419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[*] Future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2816352"/>
            <a:ext cx="338328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VLM annotation →
Supervised finetuning
Efficient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3E50"/>
                </a:solidFill>
                <a:latin typeface="Calibri"/>
              </a:rPr>
              <a:t>Key takeaway: physics-intuitive reasoning content is a distinct, under-explored axis of improvement for VLA policies — separate from scale, data, or architecture.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5A5A6"/>
                </a:solidFill>
                <a:latin typeface="Calibri"/>
              </a:rPr>
              <a:t>Bobby Shi  •  shi02@stanford.edu  • 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2880" y="65928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A5A6"/>
                </a:solidFill>
                <a:latin typeface="Calibri"/>
              </a:rPr>
              <a:t>PhysCoT  •  Bobby Shi  •  shi02@stanford.edu  •  Stanford CS 372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1672" y="65928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5A5A6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1378</Words>
  <Application>Microsoft Macintosh PowerPoint</Application>
  <PresentationFormat>Custom</PresentationFormat>
  <Paragraphs>152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Bobby Shi</cp:lastModifiedBy>
  <cp:revision>2</cp:revision>
  <dcterms:created xsi:type="dcterms:W3CDTF">2013-01-27T09:14:16Z</dcterms:created>
  <dcterms:modified xsi:type="dcterms:W3CDTF">2026-03-09T23:24:34Z</dcterms:modified>
  <cp:category/>
</cp:coreProperties>
</file>