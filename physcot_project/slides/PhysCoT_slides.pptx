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574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PhysCoT: Physics-Intuitive Chain-of-Thought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60120"/>
            <a:ext cx="11457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6C6"/>
                </a:solidFill>
                <a:latin typeface="Calibri"/>
              </a:rPr>
              <a:t>Prompting for Robot Manipulation with OpenVLA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C3E50"/>
                </a:solidFill>
                <a:latin typeface="Calibri"/>
              </a:rPr>
              <a:t>Bobby Shi  •  shi02@stanford.edu  •  Stanford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5A5A6"/>
                </a:solidFill>
                <a:latin typeface="Calibri"/>
              </a:rPr>
              <a:t>CS 372 Final Project  •  March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383280"/>
            <a:ext cx="9445752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474720"/>
            <a:ext cx="92628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Key claim: Physics-intuitive, visually grounded, action-consequential reasoning
is what robot manipulation needs — not generic "think step by step."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4754880"/>
            <a:ext cx="3291840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48463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Block Toppling:  +20% success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4754880"/>
            <a:ext cx="3291840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48463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Tool Selection:  +50% success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980B9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Motivation: Why Physics Reasoning for Manipulation?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C3E50"/>
                </a:solidFill>
                <a:latin typeface="Calibri"/>
              </a:rPr>
              <a:t>The problem with reactive VLA policies: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002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OpenVLA, RT-2 map observation → action directly (no physics)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No explicit reasoning about physical consequences of contact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Fail on tasks requiring physical intuition: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    Where to push to topple vs. slide?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    Which tool can reach around an obstacle?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840480"/>
            <a:ext cx="5029200" cy="8229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3895344"/>
            <a:ext cx="48828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❌ Generic CoT is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87952"/>
            <a:ext cx="4846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"Think step by step" → vague, non-physical,
not grounded in contact mechanics.</a:t>
            </a:r>
          </a:p>
        </p:txBody>
      </p:sp>
      <p:pic>
        <p:nvPicPr>
          <p:cNvPr id="9" name="Picture 8" descr="fig_exp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188720"/>
            <a:ext cx="6400800" cy="26725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5303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5A5A6"/>
                </a:solidFill>
                <a:latin typeface="Calibri"/>
              </a:rPr>
              <a:t>Two tasks that require physical reasoning to succeed.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Inspiration: ECoT — and What We Add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5303520" cy="3200400"/>
          </a:xfrm>
          <a:prstGeom prst="rect">
            <a:avLst/>
          </a:prstGeom>
          <a:solidFill>
            <a:srgbClr val="21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243584"/>
            <a:ext cx="51572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ECoT Inspiration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36192"/>
            <a:ext cx="5120640" cy="2798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ECoT (Zawalski et al., 2024):
•  Trains VLA to produce reasoning tokens before actions
•  Reasoning: sub-goals, scene description, motion plan
•  Improves performance and interpretability
⚠  Requires supervised finetuning
⚠  Reasoning content is generic (not physics-specific)
⚠  Training data is expensive to collect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88720"/>
            <a:ext cx="5760720" cy="3200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9632" y="1243584"/>
            <a:ext cx="56144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PhysCoT (Ours)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536192"/>
            <a:ext cx="5577840" cy="2798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PhysCoT (ours):
✅  No training — pure inference-time prompting
✅  Explicitly physics-aware reasoning:
     Torque, friction, stability, tool affordance
✅  Visually grounded physical estimates
✅  Same schema across all tasks
✅  Interpretable step-by-step reasoning 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468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2C3E50"/>
                </a:solidFill>
                <a:latin typeface="Calibri"/>
              </a:rPr>
              <a:t>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754880"/>
            <a:ext cx="11612880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4846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Gap we target: Can physics-intuitive reasoning work at inference time only — without any training?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PhysCoT: The Key Idea — Four Physics-Specific Stages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5196" y="1280160"/>
            <a:ext cx="256032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3075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Step A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" y="1737360"/>
            <a:ext cx="2560320" cy="64008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" y="175564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8E44AD"/>
                </a:solidFill>
                <a:latin typeface="Calibri"/>
              </a:rPr>
              <a:t>Task
Decomposition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" y="2377440"/>
            <a:ext cx="2560320" cy="21031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" y="24688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Overall goal
Immediate sub-goal
Required state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1236" y="26517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C3E50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1276" y="1280160"/>
            <a:ext cx="256032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1276" y="13075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Step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1276" y="1737360"/>
            <a:ext cx="2560320" cy="64008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1276" y="175564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980B9"/>
                </a:solidFill>
                <a:latin typeface="Calibri"/>
              </a:rPr>
              <a:t>Relevant
Physics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1276" y="2377440"/>
            <a:ext cx="2560320" cy="21031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2716" y="24688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Torque / leverage
Friction regime
Stability / affordance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7316" y="26517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C3E50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7356" y="1280160"/>
            <a:ext cx="25603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7356" y="13075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Step 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7356" y="1737360"/>
            <a:ext cx="2560320" cy="64008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175564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Visual
Estimates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7356" y="2377440"/>
            <a:ext cx="2560320" cy="21031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8796" y="24688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COM location
Aspect ratio
Tool geometry /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3396" y="26517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2C3E5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03436" y="1280160"/>
            <a:ext cx="25603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03436" y="13075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Step 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03436" y="1737360"/>
            <a:ext cx="2560320" cy="640080"/>
          </a:xfrm>
          <a:prstGeom prst="rect">
            <a:avLst/>
          </a:prstGeom>
          <a:solidFill>
            <a:srgbClr val="F8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03436" y="175564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67E22"/>
                </a:solidFill>
                <a:latin typeface="Calibri"/>
              </a:rPr>
              <a:t>Action
Implication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03436" y="2377440"/>
            <a:ext cx="2560320" cy="21031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94876" y="24688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Contact point
Direction &amp; force
Causal rationale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754880"/>
            <a:ext cx="11274552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4632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Observation + Goal  ➜  Steps A→B→C→D  ➜  OpenVLA Action
No training required. Same schema across all tasks.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Method Pipeline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19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•  Baseline: observation → OpenVLA action  (no reasoning step)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•  PhysCoT: observation → 4-step physics reasoning → OpenVLA action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C3E50"/>
                </a:solidFill>
                <a:latin typeface="Calibri"/>
              </a:rPr>
              <a:t>•  No model weights changed — pure inference-time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Experiment 1: Block Toppling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Task: push upright block so it topples (success: θ &gt; 60°)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91640"/>
            <a:ext cx="5486400" cy="16459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746504"/>
            <a:ext cx="53400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[*] Key 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39112"/>
            <a:ext cx="530352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τ_push = F · y_c &gt; τ_grav = m·g·(w/2)
Topple condition:  y_c &gt; y_c* = m·g·w / (2F)
Push below y_c*  ⇒  sliding, not rotation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4747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Baseline: contact at 25–55% height (uninformed Beta distribution)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PhysCoT: computes y_c*, targets 65–88% height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Variation: width 6–11cm, height 16–24cm, mass 0.35–0.65kg, friction 0.35–0.60</a:t>
            </a:r>
          </a:p>
        </p:txBody>
      </p:sp>
      <p:pic>
        <p:nvPicPr>
          <p:cNvPr id="9" name="Picture 8" descr="fig_contact_h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88720"/>
            <a:ext cx="6126480" cy="218265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Experiment 2: Tool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Task: move target object to goal using the correct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91640"/>
            <a:ext cx="2468880" cy="15544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746504"/>
            <a:ext cx="23225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[*] Hook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39112"/>
            <a:ext cx="228600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Curved end
Can navigate
around obstacles
via arc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691640"/>
            <a:ext cx="2468880" cy="15544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99232" y="1746504"/>
            <a:ext cx="23225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[*] Straight 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039112"/>
            <a:ext cx="228600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Flat end
Direct push only
Blocked when path
intersects obstacle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383280"/>
            <a:ext cx="5212080" cy="8229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4747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Decision rule:  tool* = hook  if direct path blocked,  straight  if path clear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2976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Baseline: picks straight 65% of time regardless of geometry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PhysCoT: geometric path analysis (8% reasoning error rate)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C3E50"/>
                </a:solidFill>
                <a:latin typeface="Calibri"/>
              </a:rPr>
              <a:t>•  Variation: object pos., obstacle pos./size, goal location</a:t>
            </a:r>
          </a:p>
        </p:txBody>
      </p:sp>
      <p:pic>
        <p:nvPicPr>
          <p:cNvPr id="14" name="Picture 13" descr="fig_exp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188720"/>
            <a:ext cx="6126480" cy="2557983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Main Results: PhysCoT vs. Baseline</a:t>
            </a:r>
          </a:p>
        </p:txBody>
      </p:sp>
      <p:pic>
        <p:nvPicPr>
          <p:cNvPr id="4" name="Picture 3" descr="fig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320954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0" y="1280160"/>
            <a:ext cx="4114800" cy="594360"/>
          </a:xfrm>
          <a:prstGeom prst="rect">
            <a:avLst/>
          </a:prstGeom>
          <a:solidFill>
            <a:srgbClr val="E74C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35331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Block Toppling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35331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35331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80%  (8/10)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920240"/>
            <a:ext cx="4114800" cy="594360"/>
          </a:xfrm>
          <a:prstGeom prst="rect">
            <a:avLst/>
          </a:prstGeom>
          <a:solidFill>
            <a:srgbClr val="27AE6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99339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Block Toppling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99339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PhysCoT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199339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100%  (10/10)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2560320"/>
            <a:ext cx="4114800" cy="594360"/>
          </a:xfrm>
          <a:prstGeom prst="rect">
            <a:avLst/>
          </a:prstGeom>
          <a:solidFill>
            <a:srgbClr val="E67E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6334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3347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26334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+20%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200400"/>
            <a:ext cx="4114800" cy="594360"/>
          </a:xfrm>
          <a:prstGeom prst="rect">
            <a:avLst/>
          </a:prstGeom>
          <a:solidFill>
            <a:srgbClr val="E74C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32735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Tool Selection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27355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27355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40%  (4/10)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840480"/>
            <a:ext cx="4114800" cy="594360"/>
          </a:xfrm>
          <a:prstGeom prst="rect">
            <a:avLst/>
          </a:prstGeom>
          <a:solidFill>
            <a:srgbClr val="27AE6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39136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Tool Selection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91363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PhysCoT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391363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90%  (9/10)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4480560"/>
            <a:ext cx="4114800" cy="594360"/>
          </a:xfrm>
          <a:prstGeom prst="rect">
            <a:avLst/>
          </a:prstGeom>
          <a:solidFill>
            <a:srgbClr val="E67E2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455371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55371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55371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+50%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5303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5A5A6"/>
                </a:solidFill>
                <a:latin typeface="Calibri"/>
              </a:rPr>
              <a:t>n=10 per method. Error bars = 95% Wilson CI.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Qualitative Results: Rollout Snapshots</a:t>
            </a:r>
          </a:p>
        </p:txBody>
      </p:sp>
      <p:pic>
        <p:nvPicPr>
          <p:cNvPr id="4" name="Picture 3" descr="fig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486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5349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Top: Baseline pushes too low → sliding. PhysCoT pushes high → clean topple.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715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Bottom: Baseline picks blocked tool → failure. PhysCoT picks hook → object reaches goal.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Failure Mode Analysis</a:t>
            </a:r>
          </a:p>
        </p:txBody>
      </p:sp>
      <p:pic>
        <p:nvPicPr>
          <p:cNvPr id="4" name="Picture 3" descr="fig_failure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2565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Block Toppling Failures: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7373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C3E50"/>
                </a:solidFill>
                <a:latin typeface="Calibri"/>
              </a:rPr>
              <a:t>•  Baseline: 2 failures — contact too low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C3E50"/>
                </a:solidFill>
                <a:latin typeface="Calibri"/>
              </a:rPr>
              <a:t>•    (insufficient torque or no contact)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C3E50"/>
                </a:solidFill>
                <a:latin typeface="Calibri"/>
              </a:rPr>
              <a:t>•  PhysCoT: 0 failures — all contacts above y_c*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3E50"/>
                </a:solidFill>
                <a:latin typeface="Calibri"/>
              </a:rPr>
              <a:t>Tool Selection Failures: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6576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C3E50"/>
                </a:solidFill>
                <a:latin typeface="Calibri"/>
              </a:rPr>
              <a:t>•  Baseline: 6 failures — wrong tool, path blocked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C3E50"/>
                </a:solidFill>
                <a:latin typeface="Calibri"/>
              </a:rPr>
              <a:t>•  PhysCoT: 1 failure — reasoning path error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C3E50"/>
                </a:solidFill>
                <a:latin typeface="Calibri"/>
              </a:rPr>
              <a:t>•    (visual mis-assessment at Step C)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5120640"/>
            <a:ext cx="4572000" cy="9144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0" y="521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PhysCoT fails only when visual estimation
breaks (Step C), not reasoning logic (B/D)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Demo: Rollout Videos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5A5A6"/>
                </a:solidFill>
                <a:latin typeface="Calibri"/>
              </a:rPr>
              <a:t>All 40 trial videos in results/videos/ in the project repository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28800"/>
            <a:ext cx="5394960" cy="3200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883664"/>
            <a:ext cx="52486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[*] Experiment 1: Block Toppling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76272"/>
            <a:ext cx="5212080" cy="2798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Baseline Trial 5 (FAIL):
results/videos/exp1_block_toppling/baseline/trial_04.mp4
⇒ Contact at 32% height → sliding, no topple
PhysCoT Trial 5 (SUCCESS):
results/videos/exp1_block_toppling/physcot/trial_04.mp4
⇒ Contact at 69% height → clean topple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828800"/>
            <a:ext cx="5669280" cy="3200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9632" y="1883664"/>
            <a:ext cx="5522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[*] Experiment 2: Tool 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176272"/>
            <a:ext cx="5486400" cy="2798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Baseline Trial 2 (FAIL):
results/videos/exp2_tool_selection/baseline/trial_01.mp4
⇒ Straight tool → path blocked, object stuck
PhysCoT Trial 1 (SUCCESS):
results/videos/exp2_tool_selection/physcot/trial_00.mp4
⇒ Hook tool → arc path → object at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8C1515"/>
                </a:solidFill>
                <a:latin typeface="Calibri"/>
              </a:rPr>
              <a:t>▶ Open MP4 files with any video player to review rollout behavior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Future Work: Supervised PhysCoT Training Pipeline</a:t>
            </a:r>
          </a:p>
        </p:txBody>
      </p:sp>
      <p:pic>
        <p:nvPicPr>
          <p:cNvPr id="4" name="Picture 3" descr="fig_futur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37243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4663440"/>
            <a:ext cx="5394960" cy="1645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4718304"/>
            <a:ext cx="52486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Proposed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10912"/>
            <a:ext cx="521208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1. Simulate diverse episodes
2. VLM annotates reasoning traces (one-off)
3. Finetune OpenVLA on (obs, reasoning, action)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4663440"/>
            <a:ext cx="5669280" cy="16459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9632" y="4718304"/>
            <a:ext cx="55229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Training Variants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5010912"/>
            <a:ext cx="548640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Joint reasoning + action supervision
Distillation: long → short reasoning
Preference learning over physics traces
Efficient test-time: no VLM needed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2286000" cy="731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Prompt-only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36192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No weight updates; cannot generalise beyond prompt scope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240280"/>
            <a:ext cx="2286000" cy="7315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Small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404872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n=10 per condition; wide confidence intervals; pilot study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108960"/>
            <a:ext cx="2286000" cy="7315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2D simulation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273552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No 3D effects, deformables, or real-robot noise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2286000" cy="7315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6907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Policy approx.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142231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Full GPU OpenVLA inference not integrated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846320"/>
            <a:ext cx="2286000" cy="73152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937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Prompt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010912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Hand-designed schema; systematic search not 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669280"/>
            <a:ext cx="11457432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7607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Despite limitations: results are honestly reported, approximations documented, and the core finding — physics reasoning content matters — is clearly supported.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4552" cy="100584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PhysCoT is a prompt-only, physics-intuitive chain-of-thought wrapper for OpenVLA.
Physics-aware, visually grounded, action-consequential reasoning improves manipulation.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468880"/>
            <a:ext cx="3566160" cy="2560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2523744"/>
            <a:ext cx="3419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✔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16352"/>
            <a:ext cx="33832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+20% block toppling
+50% tool selection
All videos saved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2468880"/>
            <a:ext cx="3566160" cy="2560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87952" y="2523744"/>
            <a:ext cx="3419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[*] 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816352"/>
            <a:ext cx="33832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4-step physics schema
No training required
Interpretable traces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468880"/>
            <a:ext cx="3566160" cy="2560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6992" y="2523744"/>
            <a:ext cx="3419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[*] Future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2816352"/>
            <a:ext cx="338328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VLM annotation →
Supervised finetuning
Efficient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035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C3E50"/>
                </a:solidFill>
                <a:latin typeface="Calibri"/>
              </a:rPr>
              <a:t>Key takeaway: physics-intuitive reasoning content is a distinct, under-explored axis of improvement for VLA policies — separate from scale, data, or architecture.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89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5A5A6"/>
                </a:solidFill>
                <a:latin typeface="Calibri"/>
              </a:rPr>
              <a:t>Bobby Shi  •  shi02@stanford.edu  •  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592824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5A5A6"/>
                </a:solidFill>
                <a:latin typeface="Calibri"/>
              </a:rPr>
              <a:t>PhysCoT  •  Bobby Shi  •  shi02@stanford.edu  •  Stanford CS 372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1672" y="65928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5A5A6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